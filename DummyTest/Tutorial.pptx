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8" r:id="rId5"/>
    <p:sldId id="259" r:id="rId6"/>
    <p:sldId id="265" r:id="rId7"/>
    <p:sldId id="275" r:id="rId8"/>
    <p:sldId id="260" r:id="rId9"/>
    <p:sldId id="261" r:id="rId10"/>
    <p:sldId id="268" r:id="rId11"/>
    <p:sldId id="269" r:id="rId12"/>
    <p:sldId id="266" r:id="rId13"/>
    <p:sldId id="262" r:id="rId14"/>
    <p:sldId id="270" r:id="rId15"/>
    <p:sldId id="271" r:id="rId16"/>
    <p:sldId id="273" r:id="rId17"/>
    <p:sldId id="274" r:id="rId18"/>
    <p:sldId id="267" r:id="rId19"/>
    <p:sldId id="263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A3C19B-27CE-16A7-7CEA-590332096F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A0C0F68-9443-C6D7-F1D8-7A19A9E6D3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DB897C-30F1-857D-48A4-6E47F6B99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C1D9A-EBCE-4E37-B5BE-60153219531D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EAF4FF-F488-DF76-EB40-A73A68723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12256A-FC7B-BD09-EC44-76D320AD9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511EF-0D86-4272-9D94-43F493E51A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1580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320C36-5E8F-E37D-9320-DAF54CA37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21E90A-AB4F-D46E-851F-693A970DE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411AA6-9284-96FF-9A30-9501BD82C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C1D9A-EBCE-4E37-B5BE-60153219531D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6B3F55-3334-6EEA-64FC-9EA52780C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C975B9-0FF5-3575-6F4D-8ED71314D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511EF-0D86-4272-9D94-43F493E51A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0576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B6B699-FBA1-C61A-0C62-FBD3CF733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A962ED-8638-A754-79D5-673EACC0B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D7E269-50F1-66E2-20B9-A34113CC0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C1D9A-EBCE-4E37-B5BE-60153219531D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633E91-A20F-A536-74E3-B75CFEDE3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599BAE-FD00-574E-107E-FAE40A008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511EF-0D86-4272-9D94-43F493E51A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1181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A6D7C3-1C22-AD75-03B3-851B17453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EB0664-FE6A-AC00-F138-DF0CE47604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641392-3C9F-107A-57CD-613FA94295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7C5E43-187D-9FEF-197B-9F096C1E8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C1D9A-EBCE-4E37-B5BE-60153219531D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A7750F-0AE8-EEE7-294A-A50CC65FE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7CBAB1-1914-D23B-9599-2262E387C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511EF-0D86-4272-9D94-43F493E51A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3382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9ED943-0B0B-931B-377D-CBEE8C73E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84389A-9B1A-E84C-592B-B2301A601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3F0AC02-B919-4B49-0DCD-F2155AC02F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8AC42AD-23D2-F700-3DE4-4254F80B50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F5377C1-EF6B-2DBD-94CF-2279B81BED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65735A8-FC0F-FA91-B6D2-3D01E37E5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C1D9A-EBCE-4E37-B5BE-60153219531D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F553430-B7AD-206E-3C63-66F8DC367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DBF1807-E0E3-24C4-26D8-B5F9E5802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511EF-0D86-4272-9D94-43F493E51A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2094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A6F90-603E-2B13-79B8-97CD803C1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BA1ACB7-5EEE-02E9-1E5C-002758A45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C1D9A-EBCE-4E37-B5BE-60153219531D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BE3919B-492A-B8D5-B629-1B63B0A17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0139540-2934-675C-5E44-2F812EC67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511EF-0D86-4272-9D94-43F493E51A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9318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9DF6538-C98C-C84B-1CC8-40DC0647C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C1D9A-EBCE-4E37-B5BE-60153219531D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ABCEC35-B7CF-2A96-0DB7-AC023825C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EAEE39-0CDD-5528-38DF-9B92AE095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511EF-0D86-4272-9D94-43F493E51A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888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1E04D4-CD1D-215B-F919-07D6AD754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5D309E-B235-D5CF-8E6D-90726AF85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2D0C7B-C989-CF94-F161-F933E7CE1B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D60DDB-A55E-18A2-4B79-6E60918FC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C1D9A-EBCE-4E37-B5BE-60153219531D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87042A-52EA-3A26-6482-3103E136E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7C10CE-5748-B7FB-E6ED-65E27F8A5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511EF-0D86-4272-9D94-43F493E51A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0963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A27A1C-3A10-D393-03ED-F7EAF3ABE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A082875-F6A0-106D-A1B4-DBA48EDEE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3B5090-1789-3F8B-7BB7-799C516F29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788360B-A7EF-65A5-4F51-6E8E25A67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C1D9A-EBCE-4E37-B5BE-60153219531D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E1360E-7CF4-3073-5460-5F07447A8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C65E61-6E2E-3BE9-A6CD-3D9977877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511EF-0D86-4272-9D94-43F493E51A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2101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5BB8AB-2C15-B5E2-FFF4-B4CEB5C36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956583-5B21-9586-439B-DAB33AD7D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B2402C-B0D2-23F5-5DC7-D09F76BCE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C1D9A-EBCE-4E37-B5BE-60153219531D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ACF2BE-A109-3474-7113-A6D5FF8F8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A3B78F-139C-9614-2317-3CE869B88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511EF-0D86-4272-9D94-43F493E51A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309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981A0FE-69BD-2034-9C34-32EBDB26F9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7B58113-F848-127A-6CC5-5E00CD13E4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07029D-9610-ECE7-EB81-D302748C1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C1D9A-EBCE-4E37-B5BE-60153219531D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1A9181-32FB-6DB9-65AC-F7DB21EB3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047B2C-F943-5BD5-3199-3C11340E9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511EF-0D86-4272-9D94-43F493E51A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0025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A01077F-23D7-A4A7-7F83-F1A555BD1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FCED96-3D20-0903-4EA8-4F3E58D57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579327-E45E-A022-C041-BD76827170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9C1D9A-EBCE-4E37-B5BE-60153219531D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3F3D18-3F2C-D137-3AB7-1D0FF45E1B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A59138-A424-BB0A-A85A-021CA4BBD7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6511EF-0D86-4272-9D94-43F493E51A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495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8.xml"/><Relationship Id="rId5" Type="http://schemas.openxmlformats.org/officeDocument/2006/relationships/slide" Target="slide16.xml"/><Relationship Id="rId4" Type="http://schemas.openxmlformats.org/officeDocument/2006/relationships/slide" Target="slide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10614B-843D-D2EC-A0AC-C8159DDA94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5794" y="1646046"/>
            <a:ext cx="9940413" cy="3565909"/>
          </a:xfrm>
        </p:spPr>
        <p:txBody>
          <a:bodyPr anchor="ctr">
            <a:normAutofit/>
          </a:bodyPr>
          <a:lstStyle/>
          <a:p>
            <a:r>
              <a:rPr lang="en-US" altLang="ko-KR" sz="8000" b="1" dirty="0"/>
              <a:t>Tutorial</a:t>
            </a:r>
            <a:br>
              <a:rPr lang="en-US" altLang="ko-KR" sz="8000" dirty="0"/>
            </a:br>
            <a:r>
              <a:rPr lang="en-US" altLang="ko-KR" sz="8000" dirty="0"/>
              <a:t>for</a:t>
            </a:r>
            <a:br>
              <a:rPr lang="en-US" altLang="ko-KR" sz="8000" dirty="0"/>
            </a:br>
            <a:r>
              <a:rPr lang="en-US" altLang="ko-KR" sz="8000" b="1" dirty="0"/>
              <a:t>Dummy Data Test</a:t>
            </a:r>
            <a:endParaRPr lang="ko-KR" altLang="en-US" sz="8000" b="1" dirty="0"/>
          </a:p>
        </p:txBody>
      </p:sp>
    </p:spTree>
    <p:extLst>
      <p:ext uri="{BB962C8B-B14F-4D97-AF65-F5344CB8AC3E}">
        <p14:creationId xmlns:p14="http://schemas.microsoft.com/office/powerpoint/2010/main" val="2723000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9C76EA-42F1-3043-CF29-03585C58C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Contents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C66AA5-2A7F-D990-2B21-167798322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b="1" dirty="0">
                <a:hlinkClick r:id="rId2" action="ppaction://hlinksldjump"/>
              </a:rPr>
              <a:t>Porting</a:t>
            </a:r>
            <a:r>
              <a:rPr lang="en-US" altLang="ko-KR" dirty="0">
                <a:hlinkClick r:id="rId2" action="ppaction://hlinksldjump"/>
              </a:rPr>
              <a:t> Connectors</a:t>
            </a:r>
            <a:endParaRPr lang="en-US" altLang="ko-KR" dirty="0"/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0" indent="0">
              <a:buNone/>
            </a:pPr>
            <a:r>
              <a:rPr lang="en-US" altLang="ko-KR" b="1" dirty="0">
                <a:hlinkClick r:id="rId3" action="ppaction://hlinksldjump"/>
              </a:rPr>
              <a:t>Uploading</a:t>
            </a:r>
            <a:r>
              <a:rPr lang="en-US" altLang="ko-KR" dirty="0">
                <a:hlinkClick r:id="rId3" action="ppaction://hlinksldjump"/>
              </a:rPr>
              <a:t> program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b="1" dirty="0">
                <a:hlinkClick r:id="rId4" action="ppaction://hlinksldjump"/>
              </a:rPr>
              <a:t>Sending</a:t>
            </a:r>
            <a:r>
              <a:rPr lang="en-US" altLang="ko-KR" dirty="0">
                <a:hlinkClick r:id="rId4" action="ppaction://hlinksldjump"/>
              </a:rPr>
              <a:t> Serial Message to STM32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b="1" dirty="0">
                <a:hlinkClick r:id="rId5" action="ppaction://hlinksldjump"/>
              </a:rPr>
              <a:t>Test</a:t>
            </a:r>
            <a:endParaRPr lang="en-US" altLang="ko-KR" b="1" dirty="0"/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0" indent="0">
              <a:buNone/>
            </a:pPr>
            <a:r>
              <a:rPr lang="en-US" altLang="ko-KR" b="1" dirty="0">
                <a:hlinkClick r:id="rId6" action="ppaction://hlinksldjump"/>
              </a:rPr>
              <a:t>Command</a:t>
            </a:r>
            <a:r>
              <a:rPr lang="en-US" altLang="ko-KR" dirty="0">
                <a:hlinkClick r:id="rId6" action="ppaction://hlinksldjump"/>
              </a:rPr>
              <a:t> List</a:t>
            </a:r>
            <a:endParaRPr lang="en-US" altLang="ko-KR" dirty="0"/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514350" indent="-514350">
              <a:buAutoNum type="arabicPeriod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5666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CE490-E710-301C-BC1F-B6B405EF8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2A18B1-B745-3E11-1277-453A95FC3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6000" b="1" dirty="0"/>
              <a:t>Porting Connectors</a:t>
            </a:r>
            <a:endParaRPr lang="ko-KR" alt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1488027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0F4C3-6D55-54F7-DFA8-6024D3C94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2B8C8B-017F-1C67-BE03-DADEC8B99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Porting Connectors</a:t>
            </a:r>
            <a:endParaRPr lang="ko-KR" altLang="en-US" b="1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7BE8D53-8EAA-631B-1B51-68ED3DD03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1. Arduino Uno R4</a:t>
            </a:r>
            <a:endParaRPr lang="ko-KR" altLang="en-US" dirty="0"/>
          </a:p>
        </p:txBody>
      </p:sp>
      <p:pic>
        <p:nvPicPr>
          <p:cNvPr id="7" name="그림 6" descr="전자제품, 케이블, 전자 공학, 전기 배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0DD803-8DFC-9A07-21B4-8DDE4F79B8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969" y="2298730"/>
            <a:ext cx="5801784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293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56EF9-8FEF-3226-DC8A-DE9EECF14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3DFC18-C832-4447-DD14-B1A88A7E4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Porting Connectors</a:t>
            </a:r>
            <a:endParaRPr lang="ko-KR" altLang="en-US" b="1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3C79D17-5CEE-0B4C-A4E9-F6CB531E4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2. STM32F103C8T6</a:t>
            </a:r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4" name="그림 3" descr="전자제품, 케이블, 전기 배선, 전자 공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12B6966-A599-6950-BB04-9CB3FB768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780" y="2342418"/>
            <a:ext cx="580178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950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A88CB-0D9C-3C84-BF9F-651D89658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B32FB8-6C09-DF08-8C57-F0E188755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6000" b="1" dirty="0"/>
              <a:t>Uploading Program</a:t>
            </a:r>
            <a:endParaRPr lang="ko-KR" alt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1063325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A4825-F5D6-1E0F-E254-37B5A1B65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B24FDB-9897-5D8E-2DBB-4D6815188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Uploading Program</a:t>
            </a:r>
            <a:endParaRPr lang="ko-KR" altLang="en-US" b="1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68D924D-8644-F871-8050-1EFEDA801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dirty="0"/>
              <a:t>Arduino Uno R4</a:t>
            </a:r>
            <a:endParaRPr lang="ko-KR" altLang="en-US" b="1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B5EABE9-8B8B-A091-FFFE-F12BF11BF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13876"/>
            <a:ext cx="2686425" cy="138131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87C63E8-D44B-1BCC-6D36-F3B436714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930131"/>
            <a:ext cx="3620005" cy="1838582"/>
          </a:xfrm>
          <a:prstGeom prst="rect">
            <a:avLst/>
          </a:prstGeom>
        </p:spPr>
      </p:pic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D459A828-419A-6EA8-5C6B-B5BBD45BCAE0}"/>
              </a:ext>
            </a:extLst>
          </p:cNvPr>
          <p:cNvSpPr txBox="1">
            <a:spLocks/>
          </p:cNvSpPr>
          <p:nvPr/>
        </p:nvSpPr>
        <p:spPr>
          <a:xfrm>
            <a:off x="4607440" y="1823167"/>
            <a:ext cx="6099889" cy="41253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/>
              <a:t>Select other board and port ...</a:t>
            </a:r>
          </a:p>
          <a:p>
            <a:pPr marL="0" indent="0">
              <a:buNone/>
            </a:pPr>
            <a:r>
              <a:rPr lang="en-US" altLang="ko-KR" dirty="0"/>
              <a:t>and</a:t>
            </a:r>
          </a:p>
          <a:p>
            <a:pPr marL="0" indent="0">
              <a:buNone/>
            </a:pPr>
            <a:r>
              <a:rPr lang="en-US" altLang="ko-KR" dirty="0"/>
              <a:t>Search ‘Arduino uno r4’.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err="1"/>
              <a:t>Choise</a:t>
            </a:r>
            <a:r>
              <a:rPr lang="en-US" altLang="ko-KR" dirty="0"/>
              <a:t> the Arduino Nano R4</a:t>
            </a:r>
          </a:p>
          <a:p>
            <a:pPr marL="0" indent="0">
              <a:buNone/>
            </a:pPr>
            <a:r>
              <a:rPr lang="en-US" altLang="ko-KR" dirty="0"/>
              <a:t>and</a:t>
            </a:r>
          </a:p>
          <a:p>
            <a:pPr marL="0" indent="0">
              <a:buNone/>
            </a:pPr>
            <a:r>
              <a:rPr lang="en-US" altLang="ko-KR" dirty="0"/>
              <a:t>Install it.</a:t>
            </a:r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0634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1D03E-2B39-7435-8AFA-EB09A4CC2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12E965-8762-ECDF-7C0F-EBDAF5301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Uploading Program</a:t>
            </a:r>
            <a:endParaRPr lang="ko-KR" altLang="en-US" b="1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111D525-7453-9E30-3A57-06F8E8786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dirty="0"/>
              <a:t>Arduino Uno R4</a:t>
            </a:r>
            <a:endParaRPr lang="ko-KR" altLang="en-US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F8B87CB-F87F-7F63-C894-D2D989926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615" y="2323291"/>
            <a:ext cx="3458410" cy="2211417"/>
          </a:xfrm>
          <a:prstGeom prst="rect">
            <a:avLst/>
          </a:prstGeom>
        </p:spPr>
      </p:pic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4F08AC9D-1E32-52A8-6883-488BC5D3F35C}"/>
              </a:ext>
            </a:extLst>
          </p:cNvPr>
          <p:cNvSpPr txBox="1">
            <a:spLocks/>
          </p:cNvSpPr>
          <p:nvPr/>
        </p:nvSpPr>
        <p:spPr>
          <a:xfrm>
            <a:off x="4607440" y="1923797"/>
            <a:ext cx="6099889" cy="41253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/>
              <a:t>Upload the program.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Just click the upload button.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0468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4BDEE-5FB5-69AE-4FEB-0109B6CF6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D31938-5902-C5C0-EFC8-6834CA973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Uploading Program</a:t>
            </a:r>
            <a:endParaRPr lang="ko-KR" altLang="en-US" b="1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B2D2B44-3571-59BE-CA38-17F1996B15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57765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STM32F103C8T6</a:t>
            </a:r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FACACD0-57E0-9A88-CC9F-CE20250E5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736" y="2424686"/>
            <a:ext cx="3658111" cy="3153215"/>
          </a:xfrm>
          <a:prstGeom prst="rect">
            <a:avLst/>
          </a:prstGeom>
        </p:spPr>
      </p:pic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E6180B15-DB98-01CD-D1A2-7AC44C80BA8B}"/>
              </a:ext>
            </a:extLst>
          </p:cNvPr>
          <p:cNvSpPr txBox="1">
            <a:spLocks/>
          </p:cNvSpPr>
          <p:nvPr/>
        </p:nvSpPr>
        <p:spPr>
          <a:xfrm>
            <a:off x="5305530" y="2382845"/>
            <a:ext cx="4557765" cy="1028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/>
              <a:t>Import the project and </a:t>
            </a:r>
            <a:br>
              <a:rPr lang="en-US" altLang="ko-KR" dirty="0"/>
            </a:br>
            <a:r>
              <a:rPr lang="en-US" altLang="ko-KR" dirty="0"/>
              <a:t>Open the </a:t>
            </a:r>
            <a:r>
              <a:rPr lang="en-US" altLang="ko-KR" dirty="0" err="1"/>
              <a:t>main.c</a:t>
            </a:r>
            <a:endParaRPr lang="en-US" altLang="ko-KR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9588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B1612-BA97-C95C-3490-F9F893BE1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D68CAA-88AD-5F5B-DFB8-E84911EB4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Uploading Program</a:t>
            </a:r>
            <a:endParaRPr lang="ko-KR" altLang="en-US" b="1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16C2EA6-D2D7-7256-8DF7-71BFADB6D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57765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STM32F103C8T6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7D2E5F68-5AD6-ED6B-A776-B11D580FC9C3}"/>
              </a:ext>
            </a:extLst>
          </p:cNvPr>
          <p:cNvSpPr txBox="1">
            <a:spLocks/>
          </p:cNvSpPr>
          <p:nvPr/>
        </p:nvSpPr>
        <p:spPr>
          <a:xfrm>
            <a:off x="5305530" y="2382845"/>
            <a:ext cx="4557765" cy="3162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/>
              <a:t>Click the build icon’s</a:t>
            </a:r>
          </a:p>
          <a:p>
            <a:pPr marL="0" indent="0">
              <a:buNone/>
            </a:pPr>
            <a:r>
              <a:rPr lang="en-US" altLang="ko-KR" dirty="0"/>
              <a:t>drop down menu</a:t>
            </a:r>
          </a:p>
          <a:p>
            <a:pPr marL="0" indent="0">
              <a:buNone/>
            </a:pPr>
            <a:r>
              <a:rPr lang="en-US" altLang="ko-KR" dirty="0"/>
              <a:t>and</a:t>
            </a:r>
          </a:p>
          <a:p>
            <a:pPr marL="0" indent="0">
              <a:buNone/>
            </a:pPr>
            <a:r>
              <a:rPr lang="en-US" altLang="ko-KR" dirty="0"/>
              <a:t>Click the Release button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4238A8B-C84A-FD34-7C94-AD76011C3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965" y="2353239"/>
            <a:ext cx="4239571" cy="258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977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B3FA8-0BE3-8E53-366E-C1E5F77D8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4B7407-6890-A697-084A-D2243CA06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Uploading Program</a:t>
            </a:r>
            <a:endParaRPr lang="ko-KR" altLang="en-US" b="1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7CD0FF6-B46D-A79F-21F1-91BC2EBA9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57765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STM32F103C8T6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45CB9F52-55EE-EC9F-3E53-FA010AEC94CD}"/>
              </a:ext>
            </a:extLst>
          </p:cNvPr>
          <p:cNvSpPr txBox="1">
            <a:spLocks/>
          </p:cNvSpPr>
          <p:nvPr/>
        </p:nvSpPr>
        <p:spPr>
          <a:xfrm>
            <a:off x="5305530" y="2382845"/>
            <a:ext cx="4557765" cy="42342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/>
              <a:t>Click the run icon’s</a:t>
            </a:r>
          </a:p>
          <a:p>
            <a:pPr marL="0" indent="0">
              <a:buNone/>
            </a:pPr>
            <a:r>
              <a:rPr lang="en-US" altLang="ko-KR" dirty="0"/>
              <a:t>drop down menu</a:t>
            </a:r>
          </a:p>
          <a:p>
            <a:pPr marL="0" indent="0">
              <a:buNone/>
            </a:pPr>
            <a:r>
              <a:rPr lang="en-US" altLang="ko-KR" dirty="0"/>
              <a:t>and</a:t>
            </a:r>
          </a:p>
          <a:p>
            <a:pPr marL="0" indent="0">
              <a:buNone/>
            </a:pPr>
            <a:r>
              <a:rPr lang="en-US" altLang="ko-KR" dirty="0"/>
              <a:t>Click the Release button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If there’s not Release button, </a:t>
            </a:r>
          </a:p>
          <a:p>
            <a:pPr marL="0" indent="0">
              <a:buNone/>
            </a:pPr>
            <a:r>
              <a:rPr lang="en-US" altLang="ko-KR" dirty="0"/>
              <a:t>just click the run icon only.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32D0177-5168-99A7-1B18-DC00DB311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281" y="2382845"/>
            <a:ext cx="4302815" cy="245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178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B901B-4C96-6DB9-FBDF-7B3512114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2A67DF-8C18-6DBD-485B-BAF295634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3490"/>
            <a:ext cx="10515600" cy="2671020"/>
          </a:xfrm>
        </p:spPr>
        <p:txBody>
          <a:bodyPr>
            <a:normAutofit/>
          </a:bodyPr>
          <a:lstStyle/>
          <a:p>
            <a:pPr algn="ctr"/>
            <a:r>
              <a:rPr lang="en-US" altLang="ko-KR" sz="6000" b="1" dirty="0"/>
              <a:t>Sending</a:t>
            </a:r>
            <a:r>
              <a:rPr lang="en-US" altLang="ko-KR" sz="6000" dirty="0"/>
              <a:t> </a:t>
            </a:r>
            <a:r>
              <a:rPr lang="en-US" altLang="ko-KR" sz="6000" b="1" dirty="0"/>
              <a:t>Serial Message </a:t>
            </a:r>
            <a:br>
              <a:rPr lang="en-US" altLang="ko-KR" sz="6000" b="1" dirty="0"/>
            </a:br>
            <a:r>
              <a:rPr lang="en-US" altLang="ko-KR" sz="6000" b="1" dirty="0"/>
              <a:t>to </a:t>
            </a:r>
            <a:br>
              <a:rPr lang="en-US" altLang="ko-KR" sz="6000" b="1" dirty="0"/>
            </a:br>
            <a:r>
              <a:rPr lang="en-US" altLang="ko-KR" sz="6000" b="1" dirty="0"/>
              <a:t>STM32</a:t>
            </a:r>
            <a:endParaRPr lang="ko-KR" alt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3673410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90481-11C5-BA47-740E-9F8EDE4ED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1B3027-B065-793A-924E-DCA10D90A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Sending</a:t>
            </a:r>
            <a:r>
              <a:rPr lang="en-US" altLang="ko-KR" dirty="0"/>
              <a:t> </a:t>
            </a:r>
            <a:r>
              <a:rPr lang="en-US" altLang="ko-KR" b="1" dirty="0"/>
              <a:t>Serial Message to STM32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1D2EBC5-38FE-A0FA-D3BA-EC713BD17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9988" y="1796128"/>
            <a:ext cx="6663812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Tools – Serial Monitor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It will be popped up Serial Monitor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999CF6F-E3D8-27D8-EB4E-41C1F8FB1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810" y="1690688"/>
            <a:ext cx="3362794" cy="167663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1E6F780-EE0D-98C7-12A0-AC99B0B2E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810" y="3579168"/>
            <a:ext cx="3384721" cy="176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555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178AC-90FE-70D2-F7D0-1AB0C8752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46CFE-1820-23FC-3387-32992C471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Sending</a:t>
            </a:r>
            <a:r>
              <a:rPr lang="en-US" altLang="ko-KR"/>
              <a:t> </a:t>
            </a:r>
            <a:r>
              <a:rPr lang="en-US" altLang="ko-KR" b="1"/>
              <a:t>Serial Message to STM32</a:t>
            </a:r>
            <a:endParaRPr lang="en-US" altLang="ko-KR" b="1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201084B-D828-7A00-B848-586063A44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9988" y="1796128"/>
            <a:ext cx="6663812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/>
              <a:t>Set up the serial communication speed(baud rate) to 115200 baud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25A32C2-23F8-96FD-CC00-2E44FD6B9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101" y="1796127"/>
            <a:ext cx="3695530" cy="2353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2672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FE091-0AED-ADE3-6BC5-1C47B7E25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6FCAA1-F9E7-8DB6-4CBD-BB4AB9A26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Sending</a:t>
            </a:r>
            <a:r>
              <a:rPr lang="en-US" altLang="ko-KR"/>
              <a:t> </a:t>
            </a:r>
            <a:r>
              <a:rPr lang="en-US" altLang="ko-KR" b="1"/>
              <a:t>Serial Message to STM32</a:t>
            </a:r>
            <a:endParaRPr lang="en-US" altLang="ko-KR" b="1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FCBABF6-3B2E-6460-3555-FFC6B38A9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7939" y="1796128"/>
            <a:ext cx="6663812" cy="4351338"/>
          </a:xfrm>
        </p:spPr>
        <p:txBody>
          <a:bodyPr/>
          <a:lstStyle/>
          <a:p>
            <a:pPr marL="0" indent="0">
              <a:buNone/>
            </a:pPr>
            <a:r>
              <a:rPr lang="ko-KR" altLang="en-US"/>
              <a:t>장치관리자 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– </a:t>
            </a:r>
            <a:r>
              <a:rPr lang="ko-KR" altLang="en-US"/>
              <a:t>포트</a:t>
            </a:r>
            <a:r>
              <a:rPr lang="en-US" altLang="ko-KR"/>
              <a:t>(COM &amp; LPT) </a:t>
            </a:r>
          </a:p>
          <a:p>
            <a:pPr marL="0" indent="0">
              <a:buNone/>
            </a:pPr>
            <a:r>
              <a:rPr lang="en-US" altLang="ko-KR"/>
              <a:t>– USB</a:t>
            </a:r>
            <a:r>
              <a:rPr lang="ko-KR" altLang="en-US"/>
              <a:t> 직렬 장치</a:t>
            </a:r>
            <a:r>
              <a:rPr lang="en-US" altLang="ko-KR"/>
              <a:t>(COM27) </a:t>
            </a:r>
            <a:r>
              <a:rPr lang="ko-KR" altLang="en-US"/>
              <a:t>속성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- </a:t>
            </a:r>
            <a:r>
              <a:rPr lang="ko-KR" altLang="en-US"/>
              <a:t>비트</a:t>
            </a:r>
            <a:r>
              <a:rPr lang="en-US" altLang="ko-KR"/>
              <a:t>/</a:t>
            </a:r>
            <a:r>
              <a:rPr lang="ko-KR" altLang="en-US"/>
              <a:t>초</a:t>
            </a:r>
            <a:r>
              <a:rPr lang="en-US" altLang="ko-KR"/>
              <a:t>(B) 115200 </a:t>
            </a:r>
            <a:r>
              <a:rPr lang="ko-KR" altLang="en-US"/>
              <a:t>세팅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F7FBC2A-15B9-0EB2-94E7-E1AE5B8C5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70357"/>
            <a:ext cx="3879739" cy="3117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0706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FA011-CBC0-83F1-0121-4101A7698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520E79-45AB-FD2E-2DBE-C1257080A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6000" b="1"/>
              <a:t>Test</a:t>
            </a:r>
            <a:endParaRPr lang="ko-KR" alt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4630335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520A3-6E81-68B3-0711-140BB1B87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A4F184-BD30-BF80-3C17-D69DD5AFE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Test</a:t>
            </a:r>
            <a:endParaRPr lang="en-US" altLang="ko-KR" b="1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4D2AD27-9F36-BC90-8620-EB2B407B9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539" y="1690688"/>
            <a:ext cx="3245099" cy="1534293"/>
          </a:xfrm>
          <a:prstGeom prst="rect">
            <a:avLst/>
          </a:prstGeom>
        </p:spPr>
      </p:pic>
      <p:sp>
        <p:nvSpPr>
          <p:cNvPr id="9" name="내용 개체 틀 4">
            <a:extLst>
              <a:ext uri="{FF2B5EF4-FFF2-40B4-BE49-F238E27FC236}">
                <a16:creationId xmlns:a16="http://schemas.microsoft.com/office/drawing/2014/main" id="{EADAA4F7-CF5F-6C6A-A101-7F9A24E6E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9988" y="1796128"/>
            <a:ext cx="6663812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/>
              <a:t>Enter the command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Check response and time log.</a:t>
            </a:r>
            <a:endParaRPr lang="en-US" altLang="ko-KR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63284FA-A35B-E2BA-1ABF-602C044DC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539" y="3429000"/>
            <a:ext cx="7649643" cy="21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627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69963-D528-0EB6-648E-266324881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BED7D4-ED28-D118-545C-EEB473EF3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6000" b="1"/>
              <a:t>Command List</a:t>
            </a:r>
            <a:endParaRPr lang="ko-KR" alt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14383021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3EA68-AF3D-B94A-426B-017543494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BE0DCC-9673-2086-68F3-41544A71A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Command</a:t>
            </a:r>
            <a:r>
              <a:rPr lang="en-US" altLang="ko-KR"/>
              <a:t> </a:t>
            </a:r>
            <a:r>
              <a:rPr lang="en-US" altLang="ko-KR" b="1"/>
              <a:t>List</a:t>
            </a:r>
            <a:endParaRPr lang="en-US" altLang="ko-KR" b="1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7EBDA09-07F1-2346-88E8-D30B76432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626041"/>
              </p:ext>
            </p:extLst>
          </p:nvPr>
        </p:nvGraphicFramePr>
        <p:xfrm>
          <a:off x="972816" y="1443787"/>
          <a:ext cx="10380984" cy="5288608"/>
        </p:xfrm>
        <a:graphic>
          <a:graphicData uri="http://schemas.openxmlformats.org/drawingml/2006/table">
            <a:tbl>
              <a:tblPr/>
              <a:tblGrid>
                <a:gridCol w="2475535">
                  <a:extLst>
                    <a:ext uri="{9D8B030D-6E8A-4147-A177-3AD203B41FA5}">
                      <a16:colId xmlns:a16="http://schemas.microsoft.com/office/drawing/2014/main" val="3101790263"/>
                    </a:ext>
                  </a:extLst>
                </a:gridCol>
                <a:gridCol w="7905449">
                  <a:extLst>
                    <a:ext uri="{9D8B030D-6E8A-4147-A177-3AD203B41FA5}">
                      <a16:colId xmlns:a16="http://schemas.microsoft.com/office/drawing/2014/main" val="3177332778"/>
                    </a:ext>
                  </a:extLst>
                </a:gridCol>
              </a:tblGrid>
              <a:tr h="211545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Command List</a:t>
                      </a:r>
                    </a:p>
                  </a:txBody>
                  <a:tcPr marL="6002" marR="6002" marT="60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957178"/>
                  </a:ext>
                </a:extLst>
              </a:tr>
              <a:tr h="2115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Commands</a:t>
                      </a:r>
                    </a:p>
                  </a:txBody>
                  <a:tcPr marL="6002" marR="6002" marT="60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Response Format</a:t>
                      </a:r>
                    </a:p>
                  </a:txBody>
                  <a:tcPr marL="6002" marR="6002" marT="60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8070046"/>
                  </a:ext>
                </a:extLst>
              </a:tr>
              <a:tr h="6346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[CMD]HANDSHAKE</a:t>
                      </a:r>
                    </a:p>
                  </a:txBody>
                  <a:tcPr marL="6002" marR="6002" marT="60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20:38:10.811 -&gt; [ANS]ACK#</a:t>
                      </a:r>
                      <a:b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20:38:13.303 -&gt; [ANS]FAIL#</a:t>
                      </a:r>
                      <a:b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20:38:13.303 -&gt; [DEBUG]1110#</a:t>
                      </a:r>
                    </a:p>
                  </a:txBody>
                  <a:tcPr marL="6002" marR="6002" marT="60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633240"/>
                  </a:ext>
                </a:extLst>
              </a:tr>
              <a:tr h="4230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[CMD]OPENS</a:t>
                      </a:r>
                    </a:p>
                  </a:txBody>
                  <a:tcPr marL="6002" marR="6002" marT="60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20:38:29.620 -&gt; [ANS]ACK#</a:t>
                      </a:r>
                      <a:b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20:38:31.112 -&gt; [ANS]OK#</a:t>
                      </a:r>
                    </a:p>
                  </a:txBody>
                  <a:tcPr marL="6002" marR="6002" marT="60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05301"/>
                  </a:ext>
                </a:extLst>
              </a:tr>
              <a:tr h="10577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[CMD]CLOSES</a:t>
                      </a:r>
                    </a:p>
                  </a:txBody>
                  <a:tcPr marL="6002" marR="6002" marT="60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20:38:48.659 -&gt; [ANS]ACK#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20:39:20.157 -&gt; [ANS]O0.00W78.91E#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20:39:20.157 -&gt; [ANS]Distance=123.40 mm, LC1_raw=0.00, LC2_raw=0.00;#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20:39:20.157 -&gt; [ANS]lc1_open=123.40 g, lc2_open=123.40 g, lc1_close=123.40 g, lc2_close=123.40 g;#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20:39:20.157 -&gt; [ANS]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LC_mass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=0.0 g,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WS_mass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=78.9 g,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Oil_mass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=0.0 g;#</a:t>
                      </a:r>
                    </a:p>
                  </a:txBody>
                  <a:tcPr marL="6002" marR="6002" marT="60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0223909"/>
                  </a:ext>
                </a:extLst>
              </a:tr>
              <a:tr h="4230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[CMD]OPENV</a:t>
                      </a:r>
                    </a:p>
                  </a:txBody>
                  <a:tcPr marL="6002" marR="6002" marT="60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20:45:34.891 -&gt; [ANS]ACK#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20:45:34.891 -&gt; [ANS]OPEN_VALVE#</a:t>
                      </a:r>
                    </a:p>
                  </a:txBody>
                  <a:tcPr marL="6002" marR="6002" marT="60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7383849"/>
                  </a:ext>
                </a:extLst>
              </a:tr>
              <a:tr h="4230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[CMD]CLOSEV</a:t>
                      </a:r>
                    </a:p>
                  </a:txBody>
                  <a:tcPr marL="6002" marR="6002" marT="60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20:45:48.952 -&gt; [ANS]ACK#</a:t>
                      </a:r>
                      <a:b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20:45:48.952 -&gt; [ANS]CLOSE_VALVE#</a:t>
                      </a:r>
                    </a:p>
                  </a:txBody>
                  <a:tcPr marL="6002" marR="6002" marT="60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4784689"/>
                  </a:ext>
                </a:extLst>
              </a:tr>
              <a:tr h="6346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[VALID]1234(random number)ENDSTR</a:t>
                      </a:r>
                    </a:p>
                  </a:txBody>
                  <a:tcPr marL="6002" marR="6002" marT="60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20:48:20.753 -&gt; [ANS]ACK#</a:t>
                      </a:r>
                      <a:b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20:48:20.753 -&gt; [DEBUG]1234#</a:t>
                      </a:r>
                      <a:b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20:48:20.753 -&gt; [ANS]OK#</a:t>
                      </a:r>
                    </a:p>
                  </a:txBody>
                  <a:tcPr marL="6002" marR="6002" marT="60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574898"/>
                  </a:ext>
                </a:extLst>
              </a:tr>
              <a:tr h="12692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[TEST]MEASURE</a:t>
                      </a:r>
                    </a:p>
                  </a:txBody>
                  <a:tcPr marL="6002" marR="6002" marT="60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20:48:57.622 -&gt; [ANS]ACK#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20:49:02.416 -&gt; [ANS]Ultra=123.40 cm#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20:49:02.962 -&gt; [ANS]Distance=123.40 mm, LC1_raw=-111.06, LC2_raw=-110.95;#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20:49:02.962 -&gt; [ANS]lc1_test=12.34 g, lc2_test=12.45 g, lc1_open=123.40 g, lc2_open=123.40 g;#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20:49:02.962 -&gt; [ANS]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LC_mass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=0.0 g,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WS_mass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=78.9 g,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Oil_mass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=0.0 g;#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20:49:02.962 -&gt; [DEBUG]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WS_height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=56.8 mm#</a:t>
                      </a:r>
                    </a:p>
                  </a:txBody>
                  <a:tcPr marL="6002" marR="6002" marT="60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8719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0289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567</Words>
  <Application>Microsoft Office PowerPoint</Application>
  <PresentationFormat>와이드스크린</PresentationFormat>
  <Paragraphs>85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맑은 고딕</vt:lpstr>
      <vt:lpstr>Arial</vt:lpstr>
      <vt:lpstr>Office 테마</vt:lpstr>
      <vt:lpstr>Tutorial for Dummy Data Test</vt:lpstr>
      <vt:lpstr>Contents</vt:lpstr>
      <vt:lpstr>Porting Connectors</vt:lpstr>
      <vt:lpstr>Porting Connectors</vt:lpstr>
      <vt:lpstr>Porting Connectors</vt:lpstr>
      <vt:lpstr>Uploading Program</vt:lpstr>
      <vt:lpstr>Uploading Program</vt:lpstr>
      <vt:lpstr>Uploading Program</vt:lpstr>
      <vt:lpstr>Uploading Program</vt:lpstr>
      <vt:lpstr>Uploading Program</vt:lpstr>
      <vt:lpstr>Uploading Program</vt:lpstr>
      <vt:lpstr>Sending Serial Message  to  STM32</vt:lpstr>
      <vt:lpstr>Sending Serial Message to STM32</vt:lpstr>
      <vt:lpstr>Sending Serial Message to STM32</vt:lpstr>
      <vt:lpstr>Sending Serial Message to STM32</vt:lpstr>
      <vt:lpstr>Test</vt:lpstr>
      <vt:lpstr>Test</vt:lpstr>
      <vt:lpstr>Command List</vt:lpstr>
      <vt:lpstr>Command 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Jeongseok O</dc:creator>
  <cp:lastModifiedBy>Jeongseok O</cp:lastModifiedBy>
  <cp:revision>43</cp:revision>
  <dcterms:created xsi:type="dcterms:W3CDTF">2025-12-01T10:39:57Z</dcterms:created>
  <dcterms:modified xsi:type="dcterms:W3CDTF">2025-12-01T11:57:27Z</dcterms:modified>
</cp:coreProperties>
</file>